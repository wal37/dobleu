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852160" y="182880"/>
            <a:ext cx="4572000" cy="4572000"/>
          </a:xfrm>
          <a:prstGeom prst="ellipse">
            <a:avLst/>
          </a:prstGeom>
          <a:solidFill>
            <a:srgbClr val="9D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411480"/>
            <a:ext cx="11338560" cy="5669280"/>
          </a:xfrm>
          <a:prstGeom prst="roundRect">
            <a:avLst/>
          </a:prstGeom>
          <a:solidFill>
            <a:srgbClr val="FFFF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57FF"/>
                </a:solidFill>
                <a:latin typeface="Space Grotesk"/>
              </a:rPr>
              <a:t>Research Participation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422"/>
                </a:solidFill>
                <a:latin typeface="Space Grotesk"/>
              </a:rPr>
              <a:t>Dobleu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9617A"/>
                </a:solidFill>
                <a:latin typeface="Instrument Sans"/>
              </a:rPr>
              <a:t>Research participation infrastructure for AI labs, user research teams, expert panels, and contributor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914400"/>
            <a:ext cx="2011680" cy="1371600"/>
          </a:xfrm>
          <a:prstGeom prst="roundRect">
            <a:avLst/>
          </a:prstGeom>
          <a:solidFill>
            <a:srgbClr val="FF8FB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6832" y="1243584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422"/>
                </a:solidFill>
                <a:latin typeface="Space Grotesk"/>
              </a:rPr>
              <a:t>Screeners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914400"/>
            <a:ext cx="2011680" cy="1371600"/>
          </a:xfrm>
          <a:prstGeom prst="roundRect">
            <a:avLst/>
          </a:prstGeom>
          <a:solidFill>
            <a:srgbClr val="9DE4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05672" y="1243584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422"/>
                </a:solidFill>
                <a:latin typeface="Space Grotesk"/>
              </a:rPr>
              <a:t>Expert panels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468880"/>
            <a:ext cx="2011680" cy="1371600"/>
          </a:xfrm>
          <a:prstGeom prst="roundRect">
            <a:avLst/>
          </a:prstGeom>
          <a:solidFill>
            <a:srgbClr val="FFCB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2798064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422"/>
                </a:solidFill>
                <a:latin typeface="Space Grotesk"/>
              </a:rPr>
              <a:t>Study 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2468880"/>
            <a:ext cx="2011680" cy="1371600"/>
          </a:xfrm>
          <a:prstGeom prst="roundRect">
            <a:avLst/>
          </a:prstGeom>
          <a:solidFill>
            <a:srgbClr val="D9D4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05672" y="2798064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422"/>
                </a:solidFill>
                <a:latin typeface="Space Grotesk"/>
              </a:rPr>
              <a:t>Payouts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89204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504748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2B57"/>
                </a:solidFill>
                <a:latin typeface="Space Grotesk"/>
              </a:rPr>
              <a:t>482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5029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617A"/>
                </a:solidFill>
                <a:latin typeface="Instrument Sans"/>
              </a:rPr>
              <a:t>qualified applicants in pipeline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489204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504748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2B57"/>
                </a:solidFill>
                <a:latin typeface="Space Grotesk"/>
              </a:rPr>
              <a:t>multi-format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5029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617A"/>
                </a:solidFill>
                <a:latin typeface="Instrument Sans"/>
              </a:rPr>
              <a:t>studies and evaluator tasks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4892040"/>
            <a:ext cx="1828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46904" y="504748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2B57"/>
                </a:solidFill>
                <a:latin typeface="Space Grotesk"/>
              </a:rPr>
              <a:t>repeatable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5272" y="5029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9617A"/>
                </a:solidFill>
                <a:latin typeface="Instrument Sans"/>
              </a:rPr>
              <a:t>screening and payout 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422"/>
                </a:solidFill>
                <a:latin typeface="Space Grotesk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17A"/>
                </a:solidFill>
                <a:latin typeface="Instrument Sans"/>
              </a:rPr>
              <a:t>Participant operations are still stitched together with forms, spreadsheets, manual emails, and ad hoc screening.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2103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422"/>
                </a:solidFill>
                <a:latin typeface="Space Grotesk"/>
              </a:rPr>
              <a:t>Acquisition is fragmented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Interest forms, sourcing lists, and referrals rarely connect to a reusable participant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828800"/>
            <a:ext cx="3337560" cy="3383280"/>
          </a:xfrm>
          <a:prstGeom prst="roundRect">
            <a:avLst/>
          </a:prstGeom>
          <a:solidFill>
            <a:srgbClr val="F3EE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5" y="2103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422"/>
                </a:solidFill>
                <a:latin typeface="Space Grotesk"/>
              </a:rPr>
              <a:t>Quality is hard to 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1415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Teams need faster ways to screen fit, verify expertise, and flag low-quality contributors.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828800"/>
            <a:ext cx="3337560" cy="3200400"/>
          </a:xfrm>
          <a:prstGeom prst="roundRect">
            <a:avLst/>
          </a:prstGeom>
          <a:solidFill>
            <a:srgbClr val="FFF0F4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5" y="2103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422"/>
                </a:solidFill>
                <a:latin typeface="Space Grotesk"/>
              </a:rPr>
              <a:t>Study execution stays 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4735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Scheduling, notes, payout readiness, and repeat participant management remain operational bottlenecks.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411480"/>
            <a:ext cx="11430000" cy="5669280"/>
          </a:xfrm>
          <a:prstGeom prst="roundRect">
            <a:avLst/>
          </a:prstGeom>
          <a:solidFill>
            <a:srgbClr val="FFFF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422"/>
                </a:solidFill>
                <a:latin typeface="Space Grotesk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17A"/>
                </a:solidFill>
                <a:latin typeface="Instrument Sans"/>
              </a:rPr>
              <a:t>Dobleu is a product-led operations layer for participant registration, qualification, study management, and contributor trust.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901952"/>
            <a:ext cx="201168" cy="201168"/>
          </a:xfrm>
          <a:prstGeom prst="ellipse">
            <a:avLst/>
          </a:prstGeom>
          <a:solidFill>
            <a:srgbClr val="6B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422"/>
                </a:solidFill>
                <a:latin typeface="Space Grotesk"/>
              </a:rPr>
              <a:t>Unified participant intake and registration flows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816352"/>
            <a:ext cx="201168" cy="201168"/>
          </a:xfrm>
          <a:prstGeom prst="ellipse">
            <a:avLst/>
          </a:prstGeom>
          <a:solidFill>
            <a:srgbClr val="FF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422"/>
                </a:solidFill>
                <a:latin typeface="Space Grotesk"/>
              </a:rPr>
              <a:t>Screening rules for expertise, demographics, language, and device fit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730752"/>
            <a:ext cx="201168" cy="201168"/>
          </a:xfrm>
          <a:prstGeom prst="ellipse">
            <a:avLst/>
          </a:prstGeom>
          <a:solidFill>
            <a:srgbClr val="9D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422"/>
                </a:solidFill>
                <a:latin typeface="Space Grotesk"/>
              </a:rPr>
              <a:t>Study assignment for interviews, evaluations, surveys, and task-based work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645152"/>
            <a:ext cx="201168" cy="201168"/>
          </a:xfrm>
          <a:prstGeom prst="ellipse">
            <a:avLst/>
          </a:prstGeom>
          <a:solidFill>
            <a:srgbClr val="FFC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422"/>
                </a:solidFill>
                <a:latin typeface="Space Grotesk"/>
              </a:rPr>
              <a:t>Quality history, repeat cohorts, and payout tracking in one 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554480"/>
            <a:ext cx="3840480" cy="3474720"/>
          </a:xfrm>
          <a:prstGeom prst="roundRect">
            <a:avLst/>
          </a:prstGeom>
          <a:solidFill>
            <a:srgbClr val="161A2F"/>
          </a:solidFill>
          <a:ln>
            <a:solidFill>
              <a:srgbClr val="161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26679" y="1874519"/>
            <a:ext cx="3154680" cy="502920"/>
          </a:xfrm>
          <a:prstGeom prst="roundRect">
            <a:avLst/>
          </a:prstGeom>
          <a:solidFill>
            <a:srgbClr val="2A2E53"/>
          </a:solidFill>
          <a:ln>
            <a:solidFill>
              <a:srgbClr val="2A2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993391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pace Grotesk"/>
              </a:rPr>
              <a:t>Intake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624327"/>
            <a:ext cx="3154680" cy="502920"/>
          </a:xfrm>
          <a:prstGeom prst="roundRect">
            <a:avLst/>
          </a:prstGeom>
          <a:solidFill>
            <a:srgbClr val="4F2F7D"/>
          </a:solidFill>
          <a:ln>
            <a:solidFill>
              <a:srgbClr val="4F2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743199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pace Grotesk"/>
              </a:rPr>
              <a:t>Screen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3374135"/>
            <a:ext cx="3154680" cy="502920"/>
          </a:xfrm>
          <a:prstGeom prst="roundRect">
            <a:avLst/>
          </a:prstGeom>
          <a:solidFill>
            <a:srgbClr val="2C4E78"/>
          </a:solidFill>
          <a:ln>
            <a:solidFill>
              <a:srgbClr val="2C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3493007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pace Grotesk"/>
              </a:rPr>
              <a:t>Assign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4123944"/>
            <a:ext cx="3154680" cy="502920"/>
          </a:xfrm>
          <a:prstGeom prst="roundRect">
            <a:avLst/>
          </a:prstGeom>
          <a:solidFill>
            <a:srgbClr val="755628"/>
          </a:solidFill>
          <a:ln>
            <a:solidFill>
              <a:srgbClr val="755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4242816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pace Grotesk"/>
              </a:rPr>
              <a:t>Retain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422"/>
                </a:solidFill>
                <a:latin typeface="Space Grotesk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17A"/>
                </a:solidFill>
                <a:latin typeface="Instrument Sans"/>
              </a:rPr>
              <a:t>AI evaluation demand, human-in-the-loop workflows, and recurring research programs are increasing the cost of weak participant operations.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2103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422"/>
                </a:solidFill>
                <a:latin typeface="Space Grotesk"/>
              </a:rPr>
              <a:t>More programs need 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AI labs, product teams, and specialist operators increasingly rely on structured participant feedback and evaluator supply.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828800"/>
            <a:ext cx="3337560" cy="3383280"/>
          </a:xfrm>
          <a:prstGeom prst="roundRect">
            <a:avLst/>
          </a:prstGeom>
          <a:solidFill>
            <a:srgbClr val="F3EE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5" y="2103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422"/>
                </a:solidFill>
                <a:latin typeface="Space Grotesk"/>
              </a:rPr>
              <a:t>Manual ops do not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1415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Spreadsheet-driven qualification, outreach, and payout workflows create quality risk and operational drag.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828800"/>
            <a:ext cx="3337560" cy="3200400"/>
          </a:xfrm>
          <a:prstGeom prst="roundRect">
            <a:avLst/>
          </a:prstGeom>
          <a:solidFill>
            <a:srgbClr val="FFF0F4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5" y="2103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422"/>
                </a:solidFill>
                <a:latin typeface="Space Grotesk"/>
              </a:rPr>
              <a:t>Reuse matters more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4735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The value of a participant network compounds when teams can trust history, fit, and repeat engagement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422"/>
                </a:solidFill>
                <a:latin typeface="Space Grotesk"/>
              </a:rP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17A"/>
                </a:solidFill>
                <a:latin typeface="Instrument Sans"/>
              </a:rPr>
              <a:t>One platform connects the full participant research lifecycle.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880360" cy="3383280"/>
          </a:xfrm>
          <a:prstGeom prst="roundRect">
            <a:avLst/>
          </a:prstGeom>
          <a:solidFill>
            <a:srgbClr val="FFF0F4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208483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422"/>
                </a:solidFill>
                <a:latin typeface="Space Grotesk"/>
              </a:rPr>
              <a:t>Research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60604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• AI evaluation programs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1363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• User research and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66744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• Expert panels and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828800"/>
            <a:ext cx="2880360" cy="3383280"/>
          </a:xfrm>
          <a:prstGeom prst="roundRect">
            <a:avLst/>
          </a:prstGeom>
          <a:solidFill>
            <a:srgbClr val="EEF2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88536" y="208483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422"/>
                </a:solidFill>
                <a:latin typeface="Space Grotesk"/>
              </a:rPr>
              <a:t>Dobleu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260604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•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31363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• Screening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3666744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• Study 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4197096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•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472744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• Payments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828800"/>
            <a:ext cx="2880360" cy="3383280"/>
          </a:xfrm>
          <a:prstGeom prst="roundRect">
            <a:avLst/>
          </a:prstGeom>
          <a:solidFill>
            <a:srgbClr val="ECFB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71816" y="208483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422"/>
                </a:solidFill>
                <a:latin typeface="Space Grotesk"/>
              </a:rPr>
              <a:t>Participants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260604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• Applicants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31363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• Qualified contributors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3666744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• Repeat evaluators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422"/>
                </a:solidFill>
                <a:latin typeface="Space Grotesk"/>
              </a:rPr>
              <a:t>Product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17A"/>
                </a:solidFill>
                <a:latin typeface="Instrument Sans"/>
              </a:rPr>
              <a:t>Built for participant-heavy workflows, not generic CRM usage.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515600" cy="749808"/>
          </a:xfrm>
          <a:prstGeom prst="roundRect">
            <a:avLst/>
          </a:prstGeom>
          <a:solidFill>
            <a:srgbClr val="F0ED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8366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422"/>
                </a:solidFill>
                <a:latin typeface="Space Grotesk"/>
              </a:rPr>
              <a:t>Participant profile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874520"/>
            <a:ext cx="7498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17A"/>
                </a:solidFill>
                <a:latin typeface="Instrument Sans"/>
              </a:rPr>
              <a:t>Identity fields, expertise, demographics, language, availability, and device attributes.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10515600" cy="749808"/>
          </a:xfrm>
          <a:prstGeom prst="roundRect">
            <a:avLst/>
          </a:prstGeom>
          <a:solidFill>
            <a:srgbClr val="FCEAF0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4378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422"/>
                </a:solidFill>
                <a:latin typeface="Space Grotesk"/>
              </a:rPr>
              <a:t>Qualification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834640"/>
            <a:ext cx="7498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17A"/>
                </a:solidFill>
                <a:latin typeface="Instrument Sans"/>
              </a:rPr>
              <a:t>Screeners, manual review, scoring, cohort rules, and approval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10515600" cy="749808"/>
          </a:xfrm>
          <a:prstGeom prst="roundRect">
            <a:avLst/>
          </a:prstGeom>
          <a:solidFill>
            <a:srgbClr val="E9F8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0390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422"/>
                </a:solidFill>
                <a:latin typeface="Space Grotesk"/>
              </a:rPr>
              <a:t>Study execution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794760"/>
            <a:ext cx="7498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17A"/>
                </a:solidFill>
                <a:latin typeface="Instrument Sans"/>
              </a:rPr>
              <a:t>Invites, assignment, scheduling, notes, completion states, and follow-up.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17720"/>
            <a:ext cx="10515600" cy="749808"/>
          </a:xfrm>
          <a:prstGeom prst="roundRect">
            <a:avLst/>
          </a:prstGeom>
          <a:solidFill>
            <a:srgbClr val="FFF3D8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7640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422"/>
                </a:solidFill>
                <a:latin typeface="Space Grotesk"/>
              </a:rPr>
              <a:t>Trust and payout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754880"/>
            <a:ext cx="74980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17A"/>
                </a:solidFill>
                <a:latin typeface="Instrument Sans"/>
              </a:rPr>
              <a:t>Quality flags, contributor history, compensation status, and retention visibility.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422"/>
                </a:solidFill>
                <a:latin typeface="Space Grotesk"/>
              </a:rP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17A"/>
                </a:solidFill>
                <a:latin typeface="Instrument Sans"/>
              </a:rPr>
              <a:t>Dobleu supports different research formats without rebuilding the participant stack every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2103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422"/>
                </a:solidFill>
                <a:latin typeface="Space Grotesk"/>
              </a:rPr>
              <a:t>AI evaluation cohorts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Recruit multilingual evaluators, experts, and repeat raters for model testing and judgment tasks.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828800"/>
            <a:ext cx="3337560" cy="3383280"/>
          </a:xfrm>
          <a:prstGeom prst="roundRect">
            <a:avLst/>
          </a:prstGeom>
          <a:solidFill>
            <a:srgbClr val="F3EE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5" y="2103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422"/>
                </a:solidFill>
                <a:latin typeface="Space Grotesk"/>
              </a:rPr>
              <a:t>User research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1415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Run participant pipelines for interviews, product tests, concept validation, and feedback loops.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828800"/>
            <a:ext cx="3337560" cy="3200400"/>
          </a:xfrm>
          <a:prstGeom prst="roundRect">
            <a:avLst/>
          </a:prstGeom>
          <a:solidFill>
            <a:srgbClr val="FFF0F4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5" y="2103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422"/>
                </a:solidFill>
                <a:latin typeface="Space Grotesk"/>
              </a:rPr>
              <a:t>Task-based contributor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4735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Coordinate annotation, ranking, review, and workflow-specific completion programs.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pace Grotesk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7DDF3"/>
                </a:solidFill>
                <a:latin typeface="Instrument Sans"/>
              </a:rPr>
              <a:t>Operational flow from interest to qualified contribution and repeat engagement.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514600" cy="2926080"/>
          </a:xfrm>
          <a:prstGeom prst="roundRect">
            <a:avLst/>
          </a:prstGeom>
          <a:solidFill>
            <a:srgbClr val="262B4B"/>
          </a:solidFill>
          <a:ln>
            <a:solidFill>
              <a:srgbClr val="2F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pace Grotes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084831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pace Grotesk"/>
              </a:rPr>
              <a:t>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97480"/>
            <a:ext cx="2057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3DCF9"/>
                </a:solidFill>
                <a:latin typeface="Instrument Sans"/>
              </a:rPr>
              <a:t>Collect participant profile data and structured eligibility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874519"/>
            <a:ext cx="2514600" cy="2926080"/>
          </a:xfrm>
          <a:prstGeom prst="roundRect">
            <a:avLst/>
          </a:prstGeom>
          <a:solidFill>
            <a:srgbClr val="262B4B"/>
          </a:solidFill>
          <a:ln>
            <a:solidFill>
              <a:srgbClr val="2F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10312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pace Grotes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4488" y="2084831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pace Grotesk"/>
              </a:rPr>
              <a:t>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697480"/>
            <a:ext cx="2057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3DCF9"/>
                </a:solidFill>
                <a:latin typeface="Instrument Sans"/>
              </a:rPr>
              <a:t>Apply fit rules, review logic, and quality gates before assignment.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874519"/>
            <a:ext cx="2514600" cy="2926080"/>
          </a:xfrm>
          <a:prstGeom prst="roundRect">
            <a:avLst/>
          </a:prstGeom>
          <a:solidFill>
            <a:srgbClr val="262B4B"/>
          </a:solidFill>
          <a:ln>
            <a:solidFill>
              <a:srgbClr val="2F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10312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pace Grotes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7" y="2084831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pace Grotesk"/>
              </a:rPr>
              <a:t>Run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7" y="2697480"/>
            <a:ext cx="2057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3DCF9"/>
                </a:solidFill>
                <a:latin typeface="Instrument Sans"/>
              </a:rPr>
              <a:t>Invite, schedule, assign, and track completion from one ops layer.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399" y="1874519"/>
            <a:ext cx="2514600" cy="2926080"/>
          </a:xfrm>
          <a:prstGeom prst="roundRect">
            <a:avLst/>
          </a:prstGeom>
          <a:solidFill>
            <a:srgbClr val="262B4B"/>
          </a:solidFill>
          <a:ln>
            <a:solidFill>
              <a:srgbClr val="2F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79" y="210312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pace Grotesk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2327" y="2084831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pace Grotesk"/>
              </a:rPr>
              <a:t>Retain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7" y="2697480"/>
            <a:ext cx="2057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3DCF9"/>
                </a:solidFill>
                <a:latin typeface="Instrument Sans"/>
              </a:rPr>
              <a:t>Re-engage high-quality contributors with history and payout accountability.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422"/>
                </a:solidFill>
                <a:latin typeface="Space Grotesk"/>
              </a:rPr>
              <a:t>Data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17A"/>
                </a:solidFill>
                <a:latin typeface="Instrument Sans"/>
              </a:rPr>
              <a:t>Each study keeps its operational memory attached to the participant network.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37360"/>
            <a:ext cx="106984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9617A"/>
                </a:solidFill>
                <a:latin typeface="Instrument Sans"/>
              </a:rPr>
              <a:t>Study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965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9617A"/>
                </a:solidFill>
                <a:latin typeface="Instrument Sans"/>
              </a:rPr>
              <a:t>Cohort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9659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9617A"/>
                </a:solidFill>
                <a:latin typeface="Instrument Sans"/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422"/>
                </a:solidFill>
                <a:latin typeface="Space Grotesk"/>
              </a:rPr>
              <a:t>Model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377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Bilingual reviewers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350008"/>
            <a:ext cx="1417320" cy="365760"/>
          </a:xfrm>
          <a:prstGeom prst="roundRect">
            <a:avLst/>
          </a:prstGeom>
          <a:solidFill>
            <a:srgbClr val="EEE8FF"/>
          </a:solidFill>
          <a:ln>
            <a:solidFill>
              <a:srgbClr val="EE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24231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57FF"/>
                </a:solidFill>
                <a:latin typeface="Instrument Sans"/>
              </a:rPr>
              <a:t>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422"/>
                </a:solidFill>
                <a:latin typeface="Space Grotesk"/>
              </a:rPr>
              <a:t>User interview sprint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063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Fintech cohort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3035808"/>
            <a:ext cx="1417320" cy="365760"/>
          </a:xfrm>
          <a:prstGeom prst="roundRect">
            <a:avLst/>
          </a:prstGeom>
          <a:solidFill>
            <a:srgbClr val="EEE8FF"/>
          </a:solidFill>
          <a:ln>
            <a:solidFill>
              <a:srgbClr val="EE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59368" y="31089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57FF"/>
                </a:solidFill>
                <a:latin typeface="Instrument Sans"/>
              </a:rPr>
              <a:t>scheduling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4903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422"/>
                </a:solidFill>
                <a:latin typeface="Space Grotesk"/>
              </a:rPr>
              <a:t>Expert annotation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7490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Healthcare specialists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3721607"/>
            <a:ext cx="1417320" cy="365760"/>
          </a:xfrm>
          <a:prstGeom prst="roundRect">
            <a:avLst/>
          </a:prstGeom>
          <a:solidFill>
            <a:srgbClr val="EEE8FF"/>
          </a:solidFill>
          <a:ln>
            <a:solidFill>
              <a:srgbClr val="EE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9368" y="379475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57FF"/>
                </a:solidFill>
                <a:latin typeface="Instrument Sans"/>
              </a:rP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34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422"/>
                </a:solidFill>
                <a:latin typeface="Space Grotesk"/>
              </a:rPr>
              <a:t>UX concept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434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Repeat contributors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4407408"/>
            <a:ext cx="1417320" cy="365760"/>
          </a:xfrm>
          <a:prstGeom prst="roundRect">
            <a:avLst/>
          </a:prstGeom>
          <a:solidFill>
            <a:srgbClr val="EEE8FF"/>
          </a:solidFill>
          <a:ln>
            <a:solidFill>
              <a:srgbClr val="EE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9368" y="4480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57FF"/>
                </a:solidFill>
                <a:latin typeface="Instrument Sans"/>
              </a:rPr>
              <a:t>paid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422"/>
                </a:solidFill>
                <a:latin typeface="Space Grotesk"/>
              </a:rPr>
              <a:t>Target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17A"/>
                </a:solidFill>
                <a:latin typeface="Instrument Sans"/>
              </a:rPr>
              <a:t>The initial market centers on organizations that run repeated human-in-the-loop research workflows.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2103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422"/>
                </a:solidFill>
                <a:latin typeface="Space Grotesk"/>
              </a:rPr>
              <a:t>AI labs and model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Need evaluator supply, structured cohorts, and consistent participant quality.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828800"/>
            <a:ext cx="3337560" cy="3383280"/>
          </a:xfrm>
          <a:prstGeom prst="roundRect">
            <a:avLst/>
          </a:prstGeom>
          <a:solidFill>
            <a:srgbClr val="F3EE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5" y="2103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422"/>
                </a:solidFill>
                <a:latin typeface="Space Grotesk"/>
              </a:rPr>
              <a:t>User research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1415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Need repeatable participant pipelines instead of one-off recruiting.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828800"/>
            <a:ext cx="3337560" cy="3200400"/>
          </a:xfrm>
          <a:prstGeom prst="roundRect">
            <a:avLst/>
          </a:prstGeom>
          <a:solidFill>
            <a:srgbClr val="FFF0F4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5" y="2103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422"/>
                </a:solidFill>
                <a:latin typeface="Space Grotesk"/>
              </a:rPr>
              <a:t>Specialist programs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4735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Need domain experts, verified contributors, and operational traceability.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411480"/>
            <a:ext cx="11430000" cy="5669280"/>
          </a:xfrm>
          <a:prstGeom prst="roundRect">
            <a:avLst/>
          </a:prstGeom>
          <a:solidFill>
            <a:srgbClr val="FFFF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422"/>
                </a:solidFill>
                <a:latin typeface="Space Grotesk"/>
              </a:rPr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17A"/>
                </a:solidFill>
                <a:latin typeface="Instrument Sans"/>
              </a:rPr>
              <a:t>Dobleu is not just lead capture or survey software. It is operational infrastructure for participant quality and reuse.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901952"/>
            <a:ext cx="201168" cy="201168"/>
          </a:xfrm>
          <a:prstGeom prst="ellipse">
            <a:avLst/>
          </a:prstGeom>
          <a:solidFill>
            <a:srgbClr val="6B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422"/>
                </a:solidFill>
                <a:latin typeface="Space Grotesk"/>
              </a:rPr>
              <a:t>Research-specific intake and screening instead of generic forms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816352"/>
            <a:ext cx="201168" cy="201168"/>
          </a:xfrm>
          <a:prstGeom prst="ellipse">
            <a:avLst/>
          </a:prstGeom>
          <a:solidFill>
            <a:srgbClr val="FF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422"/>
                </a:solidFill>
                <a:latin typeface="Space Grotesk"/>
              </a:rPr>
              <a:t>Participant history and trust signals across multiple studies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730752"/>
            <a:ext cx="201168" cy="201168"/>
          </a:xfrm>
          <a:prstGeom prst="ellipse">
            <a:avLst/>
          </a:prstGeom>
          <a:solidFill>
            <a:srgbClr val="9D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422"/>
                </a:solidFill>
                <a:latin typeface="Space Grotesk"/>
              </a:rPr>
              <a:t>Task routing, completion, and payout visibility in the same system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645152"/>
            <a:ext cx="201168" cy="201168"/>
          </a:xfrm>
          <a:prstGeom prst="ellipse">
            <a:avLst/>
          </a:prstGeom>
          <a:solidFill>
            <a:srgbClr val="FFC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422"/>
                </a:solidFill>
                <a:latin typeface="Space Grotesk"/>
              </a:rPr>
              <a:t>Built for repeat cohort operations, not one-off recruitment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554480"/>
            <a:ext cx="3840480" cy="3474720"/>
          </a:xfrm>
          <a:prstGeom prst="roundRect">
            <a:avLst/>
          </a:prstGeom>
          <a:solidFill>
            <a:srgbClr val="161A2F"/>
          </a:solidFill>
          <a:ln>
            <a:solidFill>
              <a:srgbClr val="161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26679" y="1874519"/>
            <a:ext cx="3154680" cy="502920"/>
          </a:xfrm>
          <a:prstGeom prst="roundRect">
            <a:avLst/>
          </a:prstGeom>
          <a:solidFill>
            <a:srgbClr val="2A2E53"/>
          </a:solidFill>
          <a:ln>
            <a:solidFill>
              <a:srgbClr val="2A2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993391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pace Grotesk"/>
              </a:rPr>
              <a:t>Intake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624327"/>
            <a:ext cx="3154680" cy="502920"/>
          </a:xfrm>
          <a:prstGeom prst="roundRect">
            <a:avLst/>
          </a:prstGeom>
          <a:solidFill>
            <a:srgbClr val="4F2F7D"/>
          </a:solidFill>
          <a:ln>
            <a:solidFill>
              <a:srgbClr val="4F2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743199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pace Grotesk"/>
              </a:rPr>
              <a:t>Screen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3374135"/>
            <a:ext cx="3154680" cy="502920"/>
          </a:xfrm>
          <a:prstGeom prst="roundRect">
            <a:avLst/>
          </a:prstGeom>
          <a:solidFill>
            <a:srgbClr val="2C4E78"/>
          </a:solidFill>
          <a:ln>
            <a:solidFill>
              <a:srgbClr val="2C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3493007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pace Grotesk"/>
              </a:rPr>
              <a:t>Assign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4123944"/>
            <a:ext cx="3154680" cy="502920"/>
          </a:xfrm>
          <a:prstGeom prst="roundRect">
            <a:avLst/>
          </a:prstGeom>
          <a:solidFill>
            <a:srgbClr val="755628"/>
          </a:solidFill>
          <a:ln>
            <a:solidFill>
              <a:srgbClr val="755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4242816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pace Grotesk"/>
              </a:rPr>
              <a:t>Retain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pace Grotesk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7DDF3"/>
                </a:solidFill>
                <a:latin typeface="Instrument Sans"/>
              </a:rPr>
              <a:t>The product expands from participant ops into a broader contributor intelligence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514600" cy="2926080"/>
          </a:xfrm>
          <a:prstGeom prst="roundRect">
            <a:avLst/>
          </a:prstGeom>
          <a:solidFill>
            <a:srgbClr val="262B4B"/>
          </a:solidFill>
          <a:ln>
            <a:solidFill>
              <a:srgbClr val="2F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pace Grotes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084831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pace Grotesk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97480"/>
            <a:ext cx="2057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3DCF9"/>
                </a:solidFill>
                <a:latin typeface="Instrument Sans"/>
              </a:rPr>
              <a:t>Registration, screener flows, and study intake.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874519"/>
            <a:ext cx="2514600" cy="2926080"/>
          </a:xfrm>
          <a:prstGeom prst="roundRect">
            <a:avLst/>
          </a:prstGeom>
          <a:solidFill>
            <a:srgbClr val="262B4B"/>
          </a:solidFill>
          <a:ln>
            <a:solidFill>
              <a:srgbClr val="2F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10312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pace Grotes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4488" y="2084831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pace Grotesk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697480"/>
            <a:ext cx="2057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3DCF9"/>
                </a:solidFill>
                <a:latin typeface="Instrument Sans"/>
              </a:rPr>
              <a:t>Scheduling, study dashboards, and repeat cohort logic.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874519"/>
            <a:ext cx="2514600" cy="2926080"/>
          </a:xfrm>
          <a:prstGeom prst="roundRect">
            <a:avLst/>
          </a:prstGeom>
          <a:solidFill>
            <a:srgbClr val="262B4B"/>
          </a:solidFill>
          <a:ln>
            <a:solidFill>
              <a:srgbClr val="2F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10312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pace Grotes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7" y="2084831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pace Grotesk"/>
              </a:rP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7" y="2697480"/>
            <a:ext cx="2057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3DCF9"/>
                </a:solidFill>
                <a:latin typeface="Instrument Sans"/>
              </a:rPr>
              <a:t>Quality scoring, contributor reputation, and payout automation.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399" y="1874519"/>
            <a:ext cx="2514600" cy="2926080"/>
          </a:xfrm>
          <a:prstGeom prst="roundRect">
            <a:avLst/>
          </a:prstGeom>
          <a:solidFill>
            <a:srgbClr val="262B4B"/>
          </a:solidFill>
          <a:ln>
            <a:solidFill>
              <a:srgbClr val="2F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79" y="210312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pace Grotesk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2327" y="2084831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pace Grotesk"/>
              </a:rPr>
              <a:t>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7" y="2697480"/>
            <a:ext cx="2057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3DCF9"/>
                </a:solidFill>
                <a:latin typeface="Instrument Sans"/>
              </a:rPr>
              <a:t>Deeper AI-assisted matching and enterprise research controls.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422"/>
                </a:solidFill>
                <a:latin typeface="Space Grotesk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17A"/>
                </a:solidFill>
                <a:latin typeface="Instrument Sans"/>
              </a:rPr>
              <a:t>Initial distribution focuses on organizations that already run repeated participant workflows and feel operational pain today.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3375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2103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422"/>
                </a:solidFill>
                <a:latin typeface="Space Grotesk"/>
              </a:rPr>
              <a:t>Direct enterprise outreach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Target AI labs, research operations teams, and program owners with recurring evaluator or participant demand.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828800"/>
            <a:ext cx="3337560" cy="3383280"/>
          </a:xfrm>
          <a:prstGeom prst="roundRect">
            <a:avLst/>
          </a:prstGeom>
          <a:solidFill>
            <a:srgbClr val="F3EE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5" y="2103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422"/>
                </a:solidFill>
                <a:latin typeface="Space Grotesk"/>
              </a:rPr>
              <a:t>Workflow-led adoption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1415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Land with one study pipeline, then expand into screening, retention, and payout visibility across teams.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828800"/>
            <a:ext cx="3337560" cy="3200400"/>
          </a:xfrm>
          <a:prstGeom prst="roundRect">
            <a:avLst/>
          </a:prstGeom>
          <a:solidFill>
            <a:srgbClr val="FFF0F4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5" y="2103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11422"/>
                </a:solidFill>
                <a:latin typeface="Space Grotesk"/>
              </a:rPr>
              <a:t>Partner channels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4735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17A"/>
                </a:solidFill>
                <a:latin typeface="Instrument Sans"/>
              </a:rPr>
              <a:t>Support specialist networks, expert programs, and research operators that need branded participant infrastructure.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411480"/>
            <a:ext cx="11430000" cy="5669280"/>
          </a:xfrm>
          <a:prstGeom prst="roundRect">
            <a:avLst/>
          </a:prstGeom>
          <a:solidFill>
            <a:srgbClr val="FFFFFF"/>
          </a:solidFill>
          <a:ln>
            <a:solidFill>
              <a:srgbClr val="EE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422"/>
                </a:solidFill>
                <a:latin typeface="Space Grotesk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617A"/>
                </a:solidFill>
                <a:latin typeface="Instrument Sans"/>
              </a:rPr>
              <a:t>Commercialization can span platform access, cohort operations, and higher-control enterprise workflows.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901952"/>
            <a:ext cx="201168" cy="201168"/>
          </a:xfrm>
          <a:prstGeom prst="ellipse">
            <a:avLst/>
          </a:prstGeom>
          <a:solidFill>
            <a:srgbClr val="6B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422"/>
                </a:solidFill>
                <a:latin typeface="Space Grotesk"/>
              </a:rPr>
              <a:t>Subscription plans for research teams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816352"/>
            <a:ext cx="201168" cy="201168"/>
          </a:xfrm>
          <a:prstGeom prst="ellipse">
            <a:avLst/>
          </a:prstGeom>
          <a:solidFill>
            <a:srgbClr val="FF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422"/>
                </a:solidFill>
                <a:latin typeface="Space Grotesk"/>
              </a:rPr>
              <a:t>Usage-based participant operations or study volumes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730752"/>
            <a:ext cx="201168" cy="201168"/>
          </a:xfrm>
          <a:prstGeom prst="ellipse">
            <a:avLst/>
          </a:prstGeom>
          <a:solidFill>
            <a:srgbClr val="9D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422"/>
                </a:solidFill>
                <a:latin typeface="Space Grotesk"/>
              </a:rPr>
              <a:t>Enterprise and API partnerships for large programs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645152"/>
            <a:ext cx="201168" cy="201168"/>
          </a:xfrm>
          <a:prstGeom prst="ellipse">
            <a:avLst/>
          </a:prstGeom>
          <a:solidFill>
            <a:srgbClr val="FFC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422"/>
                </a:solidFill>
                <a:latin typeface="Space Grotesk"/>
              </a:rPr>
              <a:t>Specialized workflows for expert panels and evaluator networks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554480"/>
            <a:ext cx="3840480" cy="3474720"/>
          </a:xfrm>
          <a:prstGeom prst="roundRect">
            <a:avLst/>
          </a:prstGeom>
          <a:solidFill>
            <a:srgbClr val="161A2F"/>
          </a:solidFill>
          <a:ln>
            <a:solidFill>
              <a:srgbClr val="161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26679" y="1874519"/>
            <a:ext cx="3154680" cy="502920"/>
          </a:xfrm>
          <a:prstGeom prst="roundRect">
            <a:avLst/>
          </a:prstGeom>
          <a:solidFill>
            <a:srgbClr val="2A2E53"/>
          </a:solidFill>
          <a:ln>
            <a:solidFill>
              <a:srgbClr val="2A2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993391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pace Grotesk"/>
              </a:rPr>
              <a:t>Intake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624327"/>
            <a:ext cx="3154680" cy="502920"/>
          </a:xfrm>
          <a:prstGeom prst="roundRect">
            <a:avLst/>
          </a:prstGeom>
          <a:solidFill>
            <a:srgbClr val="4F2F7D"/>
          </a:solidFill>
          <a:ln>
            <a:solidFill>
              <a:srgbClr val="4F2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743199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pace Grotesk"/>
              </a:rPr>
              <a:t>Screen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3374135"/>
            <a:ext cx="3154680" cy="502920"/>
          </a:xfrm>
          <a:prstGeom prst="roundRect">
            <a:avLst/>
          </a:prstGeom>
          <a:solidFill>
            <a:srgbClr val="2C4E78"/>
          </a:solidFill>
          <a:ln>
            <a:solidFill>
              <a:srgbClr val="2C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3493007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pace Grotesk"/>
              </a:rPr>
              <a:t>Assign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4123944"/>
            <a:ext cx="3154680" cy="502920"/>
          </a:xfrm>
          <a:prstGeom prst="roundRect">
            <a:avLst/>
          </a:prstGeom>
          <a:solidFill>
            <a:srgbClr val="755628"/>
          </a:solidFill>
          <a:ln>
            <a:solidFill>
              <a:srgbClr val="755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4242816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pace Grotesk"/>
              </a:rPr>
              <a:t>Retain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365760"/>
            <a:ext cx="3657600" cy="3657600"/>
          </a:xfrm>
          <a:prstGeom prst="ellipse">
            <a:avLst/>
          </a:prstGeom>
          <a:solidFill>
            <a:srgbClr val="6B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pace Grotesk"/>
              </a:rPr>
              <a:t>Dobleu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5D9F4"/>
                </a:solidFill>
                <a:latin typeface="Instrument Sans"/>
              </a:rPr>
              <a:t>A sharper platform for recruiting, qualifying, and operating participant networks at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434840"/>
            <a:ext cx="3200400" cy="685800"/>
          </a:xfrm>
          <a:prstGeom prst="roundRect">
            <a:avLst/>
          </a:prstGeom>
          <a:solidFill>
            <a:srgbClr val="262B4B"/>
          </a:solidFill>
          <a:ln>
            <a:solidFill>
              <a:srgbClr val="26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6177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pace Grotesk"/>
              </a:rPr>
              <a:t>contact@dobleu.ai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Dobleu Pitch Deck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